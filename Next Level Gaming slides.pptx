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9" r:id="rId11"/>
    <p:sldId id="270" r:id="rId12"/>
    <p:sldId id="271" r:id="rId13"/>
    <p:sldId id="266" r:id="rId14"/>
    <p:sldId id="267" r:id="rId15"/>
    <p:sldId id="272" r:id="rId16"/>
    <p:sldId id="268" r:id="rId17"/>
  </p:sldIdLst>
  <p:sldSz cx="12188825"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78" d="100"/>
          <a:sy n="78" d="100"/>
        </p:scale>
        <p:origin x="850" y="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03097769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Opening: introduce the group and project. Aim for 45 seconds.</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member 1: Explain the client problem and who the platform serves. 1 minute.</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member 1: Explain visual hierarchy and user-centred design. 1 minute.</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member 3: Point at the real project logo. Explain why it was selected. 1 minute.</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member 3: Explain wireframes as plans of screen layout and user journeys. Show Home, Packages, and Fees. 1.5 minutes.</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member 3: Walk through the user journey in about 1 minute.</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Each group member briefly states their contribution. 1 minute.</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member 2: Explain the app then open the actual app if available. 1 minute.</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member 2: Show the real website running in browser. 1 minute.</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website demonstrator. 50–60 seconds. Say: "This is our website home page. It introduces Next Level Gaming and gives visitors fast access to packages and tournaments. On the packages page, customers can compare their options before booking." These screenshots are taken from the submitted report. If the local website is running, switch to it for a live walkthrough.</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website demonstrator. 1 minute. Explain that the number of bookings determines the discount (1=0%, 2=5%, 3=10%, 4 or more=15%). Then VAT is calculated after the discount. From Task 2 testing: R1500 + R650 = R2150; 5% discount R107.50; VAT R306.38; final total R2348.88. This screenshot provides visual support; for a functional demo, open calculator.html in your running website.</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Speaker: mobile developer. 60–75 seconds. Clearly introduce these as mobile screen designs from the project design report. Walk through: Home promotes the arena and tournaments; Packages lists gaming options; Calculate Fees shows booking totals and discounts; Contact contains a form. If you have the app running in Expo Go, use it to demonstrate actual taps and calculations. Do not claim the design preview is proof the app ran.</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Explain why the discount is applied before VAT. The high-fidelity wireframe shown in Task 1 may omit VAT; Task 2 documents the VAT implementation. 1 minute.</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Team member 1 or group: Conclude in 45 seconds. Do not claim deployment is complete.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References are shown in Harvard style. This slide can be displayed briefly before the concluding thank-you slide. Full sources are listed for academic attribution.</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Close and invite questions. Total planned presentation approximately 12–14 minutes.</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10/27/2026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10/27/2026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10/27/2026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10/27/2026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10/27/2026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10/27/2026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5.xml"/><Relationship Id="rId1" Type="http://schemas.openxmlformats.org/officeDocument/2006/relationships/slideLayout" Target="../slideLayouts/slideLayout7.xml"/><Relationship Id="rId5" Type="http://schemas.openxmlformats.org/officeDocument/2006/relationships/image" Target="../media/image4.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notesSlide" Target="../notesSlides/notesSlide10.xml"/><Relationship Id="rId1" Type="http://schemas.openxmlformats.org/officeDocument/2006/relationships/slideLayout" Target="../slideLayouts/slideLayout7.xml"/><Relationship Id="rId4" Type="http://schemas.openxmlformats.org/officeDocument/2006/relationships/image" Target="../media/image7.jpg"/></Relationships>
</file>

<file path=ppt/slides/_rels/slide1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9.png"/><Relationship Id="rId5" Type="http://schemas.openxmlformats.org/officeDocument/2006/relationships/image" Target="../media/image4.png"/><Relationship Id="rId4" Type="http://schemas.openxmlformats.org/officeDocument/2006/relationships/image" Target="../media/image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hyperlink" Target="https://github.com/mosesthegreat555-ceaser/Next-Level-Gaming-Esports-Arena" TargetMode="External"/><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WORK INTEGRATED LEARNING • GROUP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NEXT LEVEL GAMING &amp; ESPORTS ARENA</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01</a:t>
            </a:r>
          </a:p>
        </p:txBody>
      </p:sp>
      <p:sp>
        <p:nvSpPr>
          <p:cNvPr id="6" name="TextBox 5"/>
          <p:cNvSpPr txBox="1"/>
          <p:nvPr/>
        </p:nvSpPr>
        <p:spPr>
          <a:xfrm>
            <a:off x="731520" y="1874519"/>
            <a:ext cx="6766560" cy="548640"/>
          </a:xfrm>
          <a:prstGeom prst="rect">
            <a:avLst/>
          </a:prstGeom>
          <a:noFill/>
        </p:spPr>
        <p:txBody>
          <a:bodyPr wrap="square">
            <a:spAutoFit/>
          </a:bodyPr>
          <a:lstStyle/>
          <a:p>
            <a:pPr>
              <a:defRPr sz="2400" b="1">
                <a:solidFill>
                  <a:srgbClr val="00F5F5"/>
                </a:solidFill>
                <a:latin typeface="Aptos"/>
              </a:defRPr>
            </a:pPr>
            <a:r>
              <a:t>Website &amp; Mobile Application Project</a:t>
            </a:r>
          </a:p>
        </p:txBody>
      </p:sp>
      <p:sp>
        <p:nvSpPr>
          <p:cNvPr id="7" name="TextBox 6"/>
          <p:cNvSpPr txBox="1"/>
          <p:nvPr/>
        </p:nvSpPr>
        <p:spPr>
          <a:xfrm>
            <a:off x="731520" y="2926080"/>
            <a:ext cx="6583680" cy="1005840"/>
          </a:xfrm>
          <a:prstGeom prst="rect">
            <a:avLst/>
          </a:prstGeom>
          <a:noFill/>
        </p:spPr>
        <p:txBody>
          <a:bodyPr wrap="square">
            <a:spAutoFit/>
          </a:bodyPr>
          <a:lstStyle/>
          <a:p>
            <a:pPr>
              <a:defRPr sz="2000" b="0">
                <a:solidFill>
                  <a:srgbClr val="F5F7FB"/>
                </a:solidFill>
                <a:latin typeface="Aptos"/>
              </a:defRPr>
            </a:pPr>
            <a:r>
              <a:t>Lethabo Mmako • Blessing Lethwane • Ramosoane Madileng</a:t>
            </a:r>
          </a:p>
        </p:txBody>
      </p:sp>
      <p:sp>
        <p:nvSpPr>
          <p:cNvPr id="8" name="TextBox 7"/>
          <p:cNvSpPr txBox="1"/>
          <p:nvPr/>
        </p:nvSpPr>
        <p:spPr>
          <a:xfrm>
            <a:off x="731520" y="4663440"/>
            <a:ext cx="6400800" cy="457200"/>
          </a:xfrm>
          <a:prstGeom prst="rect">
            <a:avLst/>
          </a:prstGeom>
          <a:noFill/>
        </p:spPr>
        <p:txBody>
          <a:bodyPr wrap="square">
            <a:spAutoFit/>
          </a:bodyPr>
          <a:lstStyle/>
          <a:p>
            <a:pPr>
              <a:defRPr sz="1600" b="0">
                <a:solidFill>
                  <a:srgbClr val="B7C0CC"/>
                </a:solidFill>
                <a:latin typeface="Aptos"/>
              </a:defRPr>
            </a:pPr>
            <a:r>
              <a:t>27 October 2026  |  XHAW5112</a:t>
            </a:r>
          </a:p>
        </p:txBody>
      </p:sp>
      <p:pic>
        <p:nvPicPr>
          <p:cNvPr id="9" name="Picture 8" descr="_wil_logo_0.png"/>
          <p:cNvPicPr>
            <a:picLocks noChangeAspect="1"/>
          </p:cNvPicPr>
          <p:nvPr/>
        </p:nvPicPr>
        <p:blipFill>
          <a:blip r:embed="rId3"/>
          <a:stretch>
            <a:fillRect/>
          </a:stretch>
        </p:blipFill>
        <p:spPr>
          <a:xfrm>
            <a:off x="7863840" y="2011680"/>
            <a:ext cx="3474720" cy="34747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NEXT LEVEL • WIL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Our project &amp; client requirements</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02</a:t>
            </a:r>
          </a:p>
        </p:txBody>
      </p:sp>
      <p:sp>
        <p:nvSpPr>
          <p:cNvPr id="6" name="TextBox 5"/>
          <p:cNvSpPr txBox="1"/>
          <p:nvPr/>
        </p:nvSpPr>
        <p:spPr>
          <a:xfrm>
            <a:off x="777240" y="1828800"/>
            <a:ext cx="10058400" cy="4297680"/>
          </a:xfrm>
          <a:prstGeom prst="rect">
            <a:avLst/>
          </a:prstGeom>
          <a:noFill/>
        </p:spPr>
        <p:txBody>
          <a:bodyPr wrap="square">
            <a:spAutoFit/>
          </a:bodyPr>
          <a:lstStyle/>
          <a:p>
            <a:pPr>
              <a:spcAft>
                <a:spcPts val="1700"/>
              </a:spcAft>
              <a:defRPr sz="1900" b="0">
                <a:solidFill>
                  <a:srgbClr val="F5F7FB"/>
                </a:solidFill>
                <a:latin typeface="Aptos"/>
              </a:defRPr>
            </a:pPr>
            <a:r>
              <a:t>•  Client: Jason Naidoo, founder of a Johannesburg-based gaming and esports arena.</a:t>
            </a:r>
          </a:p>
          <a:p>
            <a:pPr>
              <a:spcAft>
                <a:spcPts val="1700"/>
              </a:spcAft>
              <a:defRPr sz="1900">
                <a:solidFill>
                  <a:srgbClr val="F5F7FB"/>
                </a:solidFill>
                <a:latin typeface="Aptos"/>
              </a:defRPr>
            </a:pPr>
            <a:r>
              <a:t>•  The arena serves casual gamers, competitive players, schools and corporate clients.</a:t>
            </a:r>
          </a:p>
          <a:p>
            <a:pPr>
              <a:spcAft>
                <a:spcPts val="1700"/>
              </a:spcAft>
              <a:defRPr sz="1900">
                <a:solidFill>
                  <a:srgbClr val="F5F7FB"/>
                </a:solidFill>
                <a:latin typeface="Aptos"/>
              </a:defRPr>
            </a:pPr>
            <a:r>
              <a:t>•  Goal: a modern website and mobile app to explore packages, events and quotations.</a:t>
            </a:r>
          </a:p>
          <a:p>
            <a:pPr>
              <a:spcAft>
                <a:spcPts val="1700"/>
              </a:spcAft>
              <a:defRPr sz="1900">
                <a:solidFill>
                  <a:srgbClr val="F5F7FB"/>
                </a:solidFill>
                <a:latin typeface="Aptos"/>
              </a:defRPr>
            </a:pPr>
            <a:r>
              <a:t>•  Key functions: package details, multi-booking discounts and contact information.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NEXT LEVEL • WIL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Why we chose these designs</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03</a:t>
            </a:r>
          </a:p>
        </p:txBody>
      </p:sp>
      <p:sp>
        <p:nvSpPr>
          <p:cNvPr id="6" name="TextBox 5"/>
          <p:cNvSpPr txBox="1"/>
          <p:nvPr/>
        </p:nvSpPr>
        <p:spPr>
          <a:xfrm>
            <a:off x="777240" y="1828800"/>
            <a:ext cx="10058400" cy="4297680"/>
          </a:xfrm>
          <a:prstGeom prst="rect">
            <a:avLst/>
          </a:prstGeom>
          <a:noFill/>
        </p:spPr>
        <p:txBody>
          <a:bodyPr wrap="square">
            <a:spAutoFit/>
          </a:bodyPr>
          <a:lstStyle/>
          <a:p>
            <a:pPr>
              <a:spcAft>
                <a:spcPts val="1700"/>
              </a:spcAft>
              <a:defRPr sz="1900" b="0">
                <a:solidFill>
                  <a:srgbClr val="F5F7FB"/>
                </a:solidFill>
                <a:latin typeface="Aptos"/>
              </a:defRPr>
            </a:pPr>
            <a:r>
              <a:t>•  Dark charcoal background makes the neon colours stand out.</a:t>
            </a:r>
          </a:p>
          <a:p>
            <a:pPr>
              <a:spcAft>
                <a:spcPts val="1700"/>
              </a:spcAft>
              <a:defRPr sz="1900">
                <a:solidFill>
                  <a:srgbClr val="F5F7FB"/>
                </a:solidFill>
                <a:latin typeface="Aptos"/>
              </a:defRPr>
            </a:pPr>
            <a:r>
              <a:t>•  Neon blue and purple reflect technology, gaming and esports energy.</a:t>
            </a:r>
          </a:p>
          <a:p>
            <a:pPr>
              <a:spcAft>
                <a:spcPts val="1700"/>
              </a:spcAft>
              <a:defRPr sz="1900">
                <a:solidFill>
                  <a:srgbClr val="F5F7FB"/>
                </a:solidFill>
                <a:latin typeface="Aptos"/>
              </a:defRPr>
            </a:pPr>
            <a:r>
              <a:t>•  Clear headings, package cards and buttons help users find information quickly.</a:t>
            </a:r>
          </a:p>
          <a:p>
            <a:pPr>
              <a:spcAft>
                <a:spcPts val="1700"/>
              </a:spcAft>
              <a:defRPr sz="1900">
                <a:solidFill>
                  <a:srgbClr val="F5F7FB"/>
                </a:solidFill>
                <a:latin typeface="Aptos"/>
              </a:defRPr>
            </a:pPr>
            <a:r>
              <a:t>•  Desktop: top navigation and responsive grid. Mobile: single-column content and bottom navigation.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NEXT LEVEL • WIL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Our logo &amp; brand identity</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04</a:t>
            </a:r>
          </a:p>
        </p:txBody>
      </p:sp>
      <p:pic>
        <p:nvPicPr>
          <p:cNvPr id="6" name="Picture 5" descr="_wil_logo_0.png"/>
          <p:cNvPicPr>
            <a:picLocks noChangeAspect="1"/>
          </p:cNvPicPr>
          <p:nvPr/>
        </p:nvPicPr>
        <p:blipFill>
          <a:blip r:embed="rId3"/>
          <a:stretch>
            <a:fillRect/>
          </a:stretch>
        </p:blipFill>
        <p:spPr>
          <a:xfrm>
            <a:off x="937259" y="1737360"/>
            <a:ext cx="4343400" cy="4343400"/>
          </a:xfrm>
          <a:prstGeom prst="rect">
            <a:avLst/>
          </a:prstGeom>
        </p:spPr>
      </p:pic>
      <p:sp>
        <p:nvSpPr>
          <p:cNvPr id="7" name="TextBox 6"/>
          <p:cNvSpPr txBox="1"/>
          <p:nvPr/>
        </p:nvSpPr>
        <p:spPr>
          <a:xfrm>
            <a:off x="5806440" y="1874519"/>
            <a:ext cx="5577840" cy="4114800"/>
          </a:xfrm>
          <a:prstGeom prst="rect">
            <a:avLst/>
          </a:prstGeom>
          <a:noFill/>
        </p:spPr>
        <p:txBody>
          <a:bodyPr wrap="square">
            <a:spAutoFit/>
          </a:bodyPr>
          <a:lstStyle/>
          <a:p>
            <a:pPr>
              <a:spcAft>
                <a:spcPts val="1700"/>
              </a:spcAft>
              <a:defRPr sz="1900" b="0">
                <a:solidFill>
                  <a:srgbClr val="F5F7FB"/>
                </a:solidFill>
                <a:latin typeface="Aptos"/>
              </a:defRPr>
            </a:pPr>
            <a:r>
              <a:t>•  Controller silhouette immediately represents gaming.</a:t>
            </a:r>
          </a:p>
          <a:p>
            <a:pPr>
              <a:spcAft>
                <a:spcPts val="1700"/>
              </a:spcAft>
              <a:defRPr sz="1900">
                <a:solidFill>
                  <a:srgbClr val="F5F7FB"/>
                </a:solidFill>
                <a:latin typeface="Aptos"/>
              </a:defRPr>
            </a:pPr>
            <a:r>
              <a:t>•  The letters N and L identify Next Level.</a:t>
            </a:r>
          </a:p>
          <a:p>
            <a:pPr>
              <a:spcAft>
                <a:spcPts val="1700"/>
              </a:spcAft>
              <a:defRPr sz="1900">
                <a:solidFill>
                  <a:srgbClr val="F5F7FB"/>
                </a:solidFill>
                <a:latin typeface="Aptos"/>
              </a:defRPr>
            </a:pPr>
            <a:r>
              <a:t>•  Angular lines and neon glow suggest movement and competition.</a:t>
            </a:r>
          </a:p>
          <a:p>
            <a:pPr>
              <a:spcAft>
                <a:spcPts val="1700"/>
              </a:spcAft>
              <a:defRPr sz="1900">
                <a:solidFill>
                  <a:srgbClr val="F5F7FB"/>
                </a:solidFill>
                <a:latin typeface="Aptos"/>
              </a:defRPr>
            </a:pPr>
            <a:r>
              <a:t>•  Recognisable on the website, mobile screens and promotional material.</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NEXT LEVEL • WIL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From low-fidelity to high-fidelity wireframes</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05</a:t>
            </a:r>
          </a:p>
        </p:txBody>
      </p:sp>
      <p:pic>
        <p:nvPicPr>
          <p:cNvPr id="6" name="Picture 5" descr="_wil_wire_0.png"/>
          <p:cNvPicPr>
            <a:picLocks noChangeAspect="1"/>
          </p:cNvPicPr>
          <p:nvPr/>
        </p:nvPicPr>
        <p:blipFill>
          <a:blip r:embed="rId3"/>
          <a:stretch>
            <a:fillRect/>
          </a:stretch>
        </p:blipFill>
        <p:spPr>
          <a:xfrm>
            <a:off x="1191049" y="1645920"/>
            <a:ext cx="2007021" cy="4343400"/>
          </a:xfrm>
          <a:prstGeom prst="rect">
            <a:avLst/>
          </a:prstGeom>
        </p:spPr>
      </p:pic>
      <p:pic>
        <p:nvPicPr>
          <p:cNvPr id="7" name="Picture 6" descr="_wil_wire_2.png"/>
          <p:cNvPicPr>
            <a:picLocks noChangeAspect="1"/>
          </p:cNvPicPr>
          <p:nvPr/>
        </p:nvPicPr>
        <p:blipFill>
          <a:blip r:embed="rId4"/>
          <a:stretch>
            <a:fillRect/>
          </a:stretch>
        </p:blipFill>
        <p:spPr>
          <a:xfrm>
            <a:off x="4195415" y="1645920"/>
            <a:ext cx="1759009" cy="4343400"/>
          </a:xfrm>
          <a:prstGeom prst="rect">
            <a:avLst/>
          </a:prstGeom>
        </p:spPr>
      </p:pic>
      <p:pic>
        <p:nvPicPr>
          <p:cNvPr id="8" name="Picture 7" descr="_wil_wire_4.png"/>
          <p:cNvPicPr>
            <a:picLocks noChangeAspect="1"/>
          </p:cNvPicPr>
          <p:nvPr/>
        </p:nvPicPr>
        <p:blipFill>
          <a:blip r:embed="rId5"/>
          <a:stretch>
            <a:fillRect/>
          </a:stretch>
        </p:blipFill>
        <p:spPr>
          <a:xfrm>
            <a:off x="6951769" y="1645920"/>
            <a:ext cx="2007021" cy="4343400"/>
          </a:xfrm>
          <a:prstGeom prst="rect">
            <a:avLst/>
          </a:prstGeom>
        </p:spPr>
      </p:pic>
      <p:sp>
        <p:nvSpPr>
          <p:cNvPr id="9" name="TextBox 8"/>
          <p:cNvSpPr txBox="1"/>
          <p:nvPr/>
        </p:nvSpPr>
        <p:spPr>
          <a:xfrm>
            <a:off x="1463040" y="6080760"/>
            <a:ext cx="1828800" cy="274320"/>
          </a:xfrm>
          <a:prstGeom prst="rect">
            <a:avLst/>
          </a:prstGeom>
          <a:noFill/>
        </p:spPr>
        <p:txBody>
          <a:bodyPr wrap="square">
            <a:spAutoFit/>
          </a:bodyPr>
          <a:lstStyle/>
          <a:p>
            <a:pPr>
              <a:defRPr sz="1200" b="1">
                <a:solidFill>
                  <a:srgbClr val="00F5F5"/>
                </a:solidFill>
                <a:latin typeface="Aptos"/>
              </a:defRPr>
            </a:pPr>
            <a:r>
              <a:t>HOME</a:t>
            </a:r>
          </a:p>
        </p:txBody>
      </p:sp>
      <p:sp>
        <p:nvSpPr>
          <p:cNvPr id="10" name="TextBox 9"/>
          <p:cNvSpPr txBox="1"/>
          <p:nvPr/>
        </p:nvSpPr>
        <p:spPr>
          <a:xfrm>
            <a:off x="4343400" y="6080760"/>
            <a:ext cx="1828800" cy="274320"/>
          </a:xfrm>
          <a:prstGeom prst="rect">
            <a:avLst/>
          </a:prstGeom>
          <a:noFill/>
        </p:spPr>
        <p:txBody>
          <a:bodyPr wrap="square">
            <a:spAutoFit/>
          </a:bodyPr>
          <a:lstStyle/>
          <a:p>
            <a:pPr>
              <a:defRPr sz="1200" b="1">
                <a:solidFill>
                  <a:srgbClr val="00F5F5"/>
                </a:solidFill>
                <a:latin typeface="Aptos"/>
              </a:defRPr>
            </a:pPr>
            <a:r>
              <a:t>PACKAGES</a:t>
            </a:r>
          </a:p>
        </p:txBody>
      </p:sp>
      <p:sp>
        <p:nvSpPr>
          <p:cNvPr id="11" name="TextBox 10"/>
          <p:cNvSpPr txBox="1"/>
          <p:nvPr/>
        </p:nvSpPr>
        <p:spPr>
          <a:xfrm>
            <a:off x="7315200" y="6080760"/>
            <a:ext cx="1828800" cy="274320"/>
          </a:xfrm>
          <a:prstGeom prst="rect">
            <a:avLst/>
          </a:prstGeom>
          <a:noFill/>
        </p:spPr>
        <p:txBody>
          <a:bodyPr wrap="square">
            <a:spAutoFit/>
          </a:bodyPr>
          <a:lstStyle/>
          <a:p>
            <a:pPr>
              <a:defRPr sz="1200" b="1">
                <a:solidFill>
                  <a:srgbClr val="00F5F5"/>
                </a:solidFill>
                <a:latin typeface="Aptos"/>
              </a:defRPr>
            </a:pPr>
            <a:r>
              <a:t>FEES</a:t>
            </a:r>
          </a:p>
        </p:txBody>
      </p:sp>
      <p:sp>
        <p:nvSpPr>
          <p:cNvPr id="12" name="TextBox 11"/>
          <p:cNvSpPr txBox="1"/>
          <p:nvPr/>
        </p:nvSpPr>
        <p:spPr>
          <a:xfrm>
            <a:off x="9464040" y="2286000"/>
            <a:ext cx="2011680" cy="2011680"/>
          </a:xfrm>
          <a:prstGeom prst="rect">
            <a:avLst/>
          </a:prstGeom>
          <a:noFill/>
        </p:spPr>
        <p:txBody>
          <a:bodyPr wrap="square">
            <a:spAutoFit/>
          </a:bodyPr>
          <a:lstStyle/>
          <a:p>
            <a:pPr>
              <a:defRPr sz="1600" b="0">
                <a:solidFill>
                  <a:srgbClr val="B7C0CC"/>
                </a:solidFill>
                <a:latin typeface="Aptos"/>
              </a:defRPr>
            </a:pPr>
            <a:r>
              <a:t>These are screenshots from our submitted wireframe document.</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NEXT LEVEL • WIL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Wireframe screen purposes</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06</a:t>
            </a:r>
          </a:p>
        </p:txBody>
      </p:sp>
      <p:sp>
        <p:nvSpPr>
          <p:cNvPr id="6" name="TextBox 5"/>
          <p:cNvSpPr txBox="1"/>
          <p:nvPr/>
        </p:nvSpPr>
        <p:spPr>
          <a:xfrm>
            <a:off x="777240" y="1828800"/>
            <a:ext cx="10058400" cy="4297680"/>
          </a:xfrm>
          <a:prstGeom prst="rect">
            <a:avLst/>
          </a:prstGeom>
          <a:noFill/>
        </p:spPr>
        <p:txBody>
          <a:bodyPr wrap="square">
            <a:spAutoFit/>
          </a:bodyPr>
          <a:lstStyle/>
          <a:p>
            <a:pPr>
              <a:spcAft>
                <a:spcPts val="1700"/>
              </a:spcAft>
              <a:defRPr sz="1900" b="0">
                <a:solidFill>
                  <a:srgbClr val="F5F7FB"/>
                </a:solidFill>
                <a:latin typeface="Aptos"/>
              </a:defRPr>
            </a:pPr>
            <a:r>
              <a:t>•  Home: featured packages, tournaments and quick actions.</a:t>
            </a:r>
          </a:p>
          <a:p>
            <a:pPr>
              <a:spcAft>
                <a:spcPts val="1700"/>
              </a:spcAft>
              <a:defRPr sz="1900">
                <a:solidFill>
                  <a:srgbClr val="F5F7FB"/>
                </a:solidFill>
                <a:latin typeface="Aptos"/>
              </a:defRPr>
            </a:pPr>
            <a:r>
              <a:t>•  About Us: story, mission, vision and target customers.</a:t>
            </a:r>
          </a:p>
          <a:p>
            <a:pPr>
              <a:spcAft>
                <a:spcPts val="1700"/>
              </a:spcAft>
              <a:defRPr sz="1900">
                <a:solidFill>
                  <a:srgbClr val="F5F7FB"/>
                </a:solidFill>
                <a:latin typeface="Aptos"/>
              </a:defRPr>
            </a:pPr>
            <a:r>
              <a:t>•  Packages + Details: compare offers and view what is included.</a:t>
            </a:r>
          </a:p>
          <a:p>
            <a:pPr>
              <a:spcAft>
                <a:spcPts val="1700"/>
              </a:spcAft>
              <a:defRPr sz="1900">
                <a:solidFill>
                  <a:srgbClr val="F5F7FB"/>
                </a:solidFill>
                <a:latin typeface="Aptos"/>
              </a:defRPr>
            </a:pPr>
            <a:r>
              <a:t>•  Calculate Fees: choose quantities, apply discounts and see a quote.</a:t>
            </a:r>
          </a:p>
          <a:p>
            <a:pPr>
              <a:spcAft>
                <a:spcPts val="1700"/>
              </a:spcAft>
              <a:defRPr sz="1900">
                <a:solidFill>
                  <a:srgbClr val="F5F7FB"/>
                </a:solidFill>
                <a:latin typeface="Aptos"/>
              </a:defRPr>
            </a:pPr>
            <a:r>
              <a:t>•  Contact Us: enquiry form and arena contact information.</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NEXT LEVEL • WIL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How our group worked together</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07</a:t>
            </a:r>
          </a:p>
        </p:txBody>
      </p:sp>
      <p:sp>
        <p:nvSpPr>
          <p:cNvPr id="6" name="TextBox 5"/>
          <p:cNvSpPr txBox="1"/>
          <p:nvPr/>
        </p:nvSpPr>
        <p:spPr>
          <a:xfrm>
            <a:off x="777240" y="1828800"/>
            <a:ext cx="10058400" cy="4297680"/>
          </a:xfrm>
          <a:prstGeom prst="rect">
            <a:avLst/>
          </a:prstGeom>
          <a:noFill/>
        </p:spPr>
        <p:txBody>
          <a:bodyPr wrap="square">
            <a:spAutoFit/>
          </a:bodyPr>
          <a:lstStyle/>
          <a:p>
            <a:pPr>
              <a:spcAft>
                <a:spcPts val="1700"/>
              </a:spcAft>
              <a:defRPr sz="1900" b="0">
                <a:solidFill>
                  <a:srgbClr val="F5F7FB"/>
                </a:solidFill>
                <a:latin typeface="Aptos"/>
              </a:defRPr>
            </a:pPr>
            <a:r>
              <a:t>•  Lethabo Mmako — project manager and website frontend developer.</a:t>
            </a:r>
          </a:p>
          <a:p>
            <a:pPr>
              <a:spcAft>
                <a:spcPts val="1700"/>
              </a:spcAft>
              <a:defRPr sz="1900">
                <a:solidFill>
                  <a:srgbClr val="F5F7FB"/>
                </a:solidFill>
                <a:latin typeface="Aptos"/>
              </a:defRPr>
            </a:pPr>
            <a:r>
              <a:t>•  Blessing Lethwane — UI/UX designer, wireframes and prototypes.</a:t>
            </a:r>
          </a:p>
          <a:p>
            <a:pPr>
              <a:spcAft>
                <a:spcPts val="1700"/>
              </a:spcAft>
              <a:defRPr sz="1900">
                <a:solidFill>
                  <a:srgbClr val="F5F7FB"/>
                </a:solidFill>
                <a:latin typeface="Aptos"/>
              </a:defRPr>
            </a:pPr>
            <a:r>
              <a:t>•  Ramosoane Madileng — React Native mobile developer and testing.</a:t>
            </a:r>
          </a:p>
          <a:p>
            <a:pPr>
              <a:spcAft>
                <a:spcPts val="1700"/>
              </a:spcAft>
              <a:defRPr sz="1900">
                <a:solidFill>
                  <a:srgbClr val="F5F7FB"/>
                </a:solidFill>
                <a:latin typeface="Aptos"/>
              </a:defRPr>
            </a:pPr>
            <a:r>
              <a:t>•  We coordinated through WhatsApp, Microsoft Teams, email and GitHub.</a:t>
            </a:r>
          </a:p>
          <a:p>
            <a:pPr>
              <a:spcAft>
                <a:spcPts val="1700"/>
              </a:spcAft>
              <a:defRPr sz="1900">
                <a:solidFill>
                  <a:srgbClr val="F5F7FB"/>
                </a:solidFill>
                <a:latin typeface="Aptos"/>
              </a:defRPr>
            </a:pPr>
            <a:r>
              <a:t>•  GitHub branches and Trello helped organise code changes and tasks.</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NEXT LEVEL • WIL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Mobile app: implementation &amp; features</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08</a:t>
            </a:r>
          </a:p>
        </p:txBody>
      </p:sp>
      <p:pic>
        <p:nvPicPr>
          <p:cNvPr id="6" name="Picture 5" descr="_wil_wire_3.png"/>
          <p:cNvPicPr>
            <a:picLocks noChangeAspect="1"/>
          </p:cNvPicPr>
          <p:nvPr/>
        </p:nvPicPr>
        <p:blipFill>
          <a:blip r:embed="rId3"/>
          <a:stretch>
            <a:fillRect/>
          </a:stretch>
        </p:blipFill>
        <p:spPr>
          <a:xfrm>
            <a:off x="8602765" y="1691640"/>
            <a:ext cx="1905428" cy="4343400"/>
          </a:xfrm>
          <a:prstGeom prst="rect">
            <a:avLst/>
          </a:prstGeom>
        </p:spPr>
      </p:pic>
      <p:sp>
        <p:nvSpPr>
          <p:cNvPr id="7" name="TextBox 6"/>
          <p:cNvSpPr txBox="1"/>
          <p:nvPr/>
        </p:nvSpPr>
        <p:spPr>
          <a:xfrm>
            <a:off x="777240" y="1828800"/>
            <a:ext cx="6949440" cy="4297680"/>
          </a:xfrm>
          <a:prstGeom prst="rect">
            <a:avLst/>
          </a:prstGeom>
          <a:noFill/>
        </p:spPr>
        <p:txBody>
          <a:bodyPr wrap="square">
            <a:spAutoFit/>
          </a:bodyPr>
          <a:lstStyle/>
          <a:p>
            <a:pPr>
              <a:spcAft>
                <a:spcPts val="1700"/>
              </a:spcAft>
              <a:defRPr sz="1900" b="0">
                <a:solidFill>
                  <a:srgbClr val="F5F7FB"/>
                </a:solidFill>
                <a:latin typeface="Aptos"/>
              </a:defRPr>
            </a:pPr>
            <a:r>
              <a:t>•  Built with React Native and Expo.</a:t>
            </a:r>
          </a:p>
          <a:p>
            <a:pPr>
              <a:spcAft>
                <a:spcPts val="1700"/>
              </a:spcAft>
              <a:defRPr sz="1900">
                <a:solidFill>
                  <a:srgbClr val="F5F7FB"/>
                </a:solidFill>
                <a:latin typeface="Aptos"/>
              </a:defRPr>
            </a:pPr>
            <a:r>
              <a:t>•  Home, About, Packages, Package Details, Calculator and Contact screens.</a:t>
            </a:r>
          </a:p>
          <a:p>
            <a:pPr>
              <a:spcAft>
                <a:spcPts val="1700"/>
              </a:spcAft>
              <a:defRPr sz="1900">
                <a:solidFill>
                  <a:srgbClr val="F5F7FB"/>
                </a:solidFill>
                <a:latin typeface="Aptos"/>
              </a:defRPr>
            </a:pPr>
            <a:r>
              <a:t>•  Tab navigation for main pages; stack navigation for package details.</a:t>
            </a:r>
          </a:p>
          <a:p>
            <a:pPr>
              <a:spcAft>
                <a:spcPts val="1700"/>
              </a:spcAft>
              <a:defRPr sz="1900">
                <a:solidFill>
                  <a:srgbClr val="F5F7FB"/>
                </a:solidFill>
                <a:latin typeface="Aptos"/>
              </a:defRPr>
            </a:pPr>
            <a:r>
              <a:t>•  Shared data supports packages, tournaments and fee calculations.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NEXT LEVEL • WIL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Website: pages &amp; responsive design</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09</a:t>
            </a:r>
          </a:p>
        </p:txBody>
      </p:sp>
      <p:pic>
        <p:nvPicPr>
          <p:cNvPr id="6" name="Picture 5" descr="_wil_site_0.png"/>
          <p:cNvPicPr>
            <a:picLocks noChangeAspect="1"/>
          </p:cNvPicPr>
          <p:nvPr/>
        </p:nvPicPr>
        <p:blipFill>
          <a:blip r:embed="rId3"/>
          <a:stretch>
            <a:fillRect/>
          </a:stretch>
        </p:blipFill>
        <p:spPr>
          <a:xfrm>
            <a:off x="7670894" y="1645920"/>
            <a:ext cx="2946210" cy="4389120"/>
          </a:xfrm>
          <a:prstGeom prst="rect">
            <a:avLst/>
          </a:prstGeom>
        </p:spPr>
      </p:pic>
      <p:sp>
        <p:nvSpPr>
          <p:cNvPr id="7" name="TextBox 6"/>
          <p:cNvSpPr txBox="1"/>
          <p:nvPr/>
        </p:nvSpPr>
        <p:spPr>
          <a:xfrm>
            <a:off x="777240" y="1828800"/>
            <a:ext cx="5943600" cy="4389120"/>
          </a:xfrm>
          <a:prstGeom prst="rect">
            <a:avLst/>
          </a:prstGeom>
          <a:noFill/>
        </p:spPr>
        <p:txBody>
          <a:bodyPr wrap="square">
            <a:spAutoFit/>
          </a:bodyPr>
          <a:lstStyle/>
          <a:p>
            <a:pPr>
              <a:spcAft>
                <a:spcPts val="1700"/>
              </a:spcAft>
              <a:defRPr sz="1900" b="0">
                <a:solidFill>
                  <a:srgbClr val="F5F7FB"/>
                </a:solidFill>
                <a:latin typeface="Aptos"/>
              </a:defRPr>
            </a:pPr>
            <a:r>
              <a:t>•  HTML5, CSS3 and JavaScript.</a:t>
            </a:r>
          </a:p>
          <a:p>
            <a:pPr>
              <a:spcAft>
                <a:spcPts val="1700"/>
              </a:spcAft>
              <a:defRPr sz="1900">
                <a:solidFill>
                  <a:srgbClr val="F5F7FB"/>
                </a:solidFill>
                <a:latin typeface="Aptos"/>
              </a:defRPr>
            </a:pPr>
            <a:r>
              <a:t>•  Six pages: Home, About, Packages, Package Details, Calculator and Contact.</a:t>
            </a:r>
          </a:p>
          <a:p>
            <a:pPr>
              <a:spcAft>
                <a:spcPts val="1700"/>
              </a:spcAft>
              <a:defRPr sz="1900">
                <a:solidFill>
                  <a:srgbClr val="F5F7FB"/>
                </a:solidFill>
                <a:latin typeface="Aptos"/>
              </a:defRPr>
            </a:pPr>
            <a:r>
              <a:t>•  Desktop layout uses a sticky top navigation bar.</a:t>
            </a:r>
          </a:p>
          <a:p>
            <a:pPr>
              <a:spcAft>
                <a:spcPts val="1700"/>
              </a:spcAft>
              <a:defRPr sz="1900">
                <a:solidFill>
                  <a:srgbClr val="F5F7FB"/>
                </a:solidFill>
                <a:latin typeface="Aptos"/>
              </a:defRPr>
            </a:pPr>
            <a:r>
              <a:t>•  Responsive grid adapts to narrow mobile screens.</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621792" y="274320"/>
            <a:ext cx="7315200" cy="274320"/>
          </a:xfrm>
          <a:prstGeom prst="rect">
            <a:avLst/>
          </a:prstGeom>
          <a:noFill/>
        </p:spPr>
        <p:txBody>
          <a:bodyPr wrap="square" lIns="27432" tIns="27432" rIns="27432">
            <a:spAutoFit/>
          </a:bodyPr>
          <a:lstStyle/>
          <a:p>
            <a:pPr algn="l">
              <a:defRPr sz="1100" b="1">
                <a:solidFill>
                  <a:srgbClr val="9B30FF"/>
                </a:solidFill>
                <a:latin typeface="Aptos"/>
              </a:defRPr>
            </a:pPr>
            <a:r>
              <a:t>NEXT LEVEL  /  DEMONSTRATION</a:t>
            </a:r>
          </a:p>
        </p:txBody>
      </p:sp>
      <p:sp>
        <p:nvSpPr>
          <p:cNvPr id="3" name="TextBox 2"/>
          <p:cNvSpPr txBox="1"/>
          <p:nvPr/>
        </p:nvSpPr>
        <p:spPr>
          <a:xfrm>
            <a:off x="612648" y="621792"/>
            <a:ext cx="10972800" cy="457200"/>
          </a:xfrm>
          <a:prstGeom prst="rect">
            <a:avLst/>
          </a:prstGeom>
          <a:noFill/>
        </p:spPr>
        <p:txBody>
          <a:bodyPr wrap="square" lIns="27432" tIns="27432" rIns="27432">
            <a:spAutoFit/>
          </a:bodyPr>
          <a:lstStyle/>
          <a:p>
            <a:pPr algn="l">
              <a:defRPr sz="2700" b="1">
                <a:solidFill>
                  <a:srgbClr val="F5F5FA"/>
                </a:solidFill>
                <a:latin typeface="Aptos"/>
              </a:defRPr>
            </a:pPr>
            <a:r>
              <a:t>Website walkthrough  |  Browse &amp; compare</a:t>
            </a:r>
          </a:p>
        </p:txBody>
      </p:sp>
      <p:sp>
        <p:nvSpPr>
          <p:cNvPr id="4" name="Rectangle 3"/>
          <p:cNvSpPr/>
          <p:nvPr/>
        </p:nvSpPr>
        <p:spPr>
          <a:xfrm>
            <a:off x="640080" y="1225296"/>
            <a:ext cx="1097280" cy="50292"/>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362456"/>
            <a:ext cx="10972800" cy="402336"/>
          </a:xfrm>
          <a:prstGeom prst="rect">
            <a:avLst/>
          </a:prstGeom>
          <a:noFill/>
        </p:spPr>
        <p:txBody>
          <a:bodyPr wrap="square" lIns="27432" tIns="27432" rIns="27432">
            <a:spAutoFit/>
          </a:bodyPr>
          <a:lstStyle/>
          <a:p>
            <a:pPr algn="l">
              <a:defRPr sz="1400" b="0">
                <a:solidFill>
                  <a:srgbClr val="B9C2CB"/>
                </a:solidFill>
                <a:latin typeface="Aptos"/>
              </a:defRPr>
            </a:pPr>
            <a:r>
              <a:t>Screenshots from Task 2 website pages — prepared visual demonstration</a:t>
            </a:r>
          </a:p>
        </p:txBody>
      </p:sp>
      <p:sp>
        <p:nvSpPr>
          <p:cNvPr id="6" name="TextBox 5"/>
          <p:cNvSpPr txBox="1"/>
          <p:nvPr/>
        </p:nvSpPr>
        <p:spPr>
          <a:xfrm>
            <a:off x="621792" y="6446520"/>
            <a:ext cx="8229600" cy="182880"/>
          </a:xfrm>
          <a:prstGeom prst="rect">
            <a:avLst/>
          </a:prstGeom>
          <a:noFill/>
        </p:spPr>
        <p:txBody>
          <a:bodyPr wrap="square" lIns="27432" tIns="27432" rIns="27432">
            <a:spAutoFit/>
          </a:bodyPr>
          <a:lstStyle/>
          <a:p>
            <a:pPr algn="l">
              <a:defRPr sz="900" b="1">
                <a:solidFill>
                  <a:srgbClr val="B9C2CB"/>
                </a:solidFill>
                <a:latin typeface="Aptos"/>
              </a:defRPr>
            </a:pPr>
            <a:r>
              <a:t>NEXT LEVEL GAMING &amp; ESPORTS ARENA</a:t>
            </a:r>
          </a:p>
        </p:txBody>
      </p:sp>
      <p:sp>
        <p:nvSpPr>
          <p:cNvPr id="7" name="Rounded Rectangle 6"/>
          <p:cNvSpPr/>
          <p:nvPr/>
        </p:nvSpPr>
        <p:spPr>
          <a:xfrm>
            <a:off x="685800" y="2011680"/>
            <a:ext cx="3703320" cy="3630168"/>
          </a:xfrm>
          <a:prstGeom prst="roundRect">
            <a:avLst/>
          </a:prstGeom>
          <a:solidFill>
            <a:srgbClr val="1F1F22"/>
          </a:solidFill>
          <a:ln>
            <a:solidFill>
              <a:srgbClr val="00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jpg"/>
          <p:cNvPicPr>
            <a:picLocks noChangeAspect="1"/>
          </p:cNvPicPr>
          <p:nvPr/>
        </p:nvPicPr>
        <p:blipFill>
          <a:blip r:embed="rId3"/>
          <a:stretch>
            <a:fillRect/>
          </a:stretch>
        </p:blipFill>
        <p:spPr>
          <a:xfrm>
            <a:off x="1395803" y="2084831"/>
            <a:ext cx="2283312" cy="3401568"/>
          </a:xfrm>
          <a:prstGeom prst="rect">
            <a:avLst/>
          </a:prstGeom>
        </p:spPr>
      </p:pic>
      <p:sp>
        <p:nvSpPr>
          <p:cNvPr id="9" name="TextBox 8"/>
          <p:cNvSpPr txBox="1"/>
          <p:nvPr/>
        </p:nvSpPr>
        <p:spPr>
          <a:xfrm>
            <a:off x="868680" y="5669280"/>
            <a:ext cx="3429000" cy="274320"/>
          </a:xfrm>
          <a:prstGeom prst="rect">
            <a:avLst/>
          </a:prstGeom>
          <a:noFill/>
        </p:spPr>
        <p:txBody>
          <a:bodyPr wrap="square" lIns="27432" tIns="27432" rIns="27432">
            <a:spAutoFit/>
          </a:bodyPr>
          <a:lstStyle/>
          <a:p>
            <a:pPr algn="ctr">
              <a:defRPr sz="1500" b="1">
                <a:solidFill>
                  <a:srgbClr val="00FFFF"/>
                </a:solidFill>
                <a:latin typeface="Aptos"/>
              </a:defRPr>
            </a:pPr>
            <a:r>
              <a:t>HOME</a:t>
            </a:r>
          </a:p>
        </p:txBody>
      </p:sp>
      <p:sp>
        <p:nvSpPr>
          <p:cNvPr id="10" name="Rounded Rectangle 9"/>
          <p:cNvSpPr/>
          <p:nvPr/>
        </p:nvSpPr>
        <p:spPr>
          <a:xfrm>
            <a:off x="4663440" y="2011680"/>
            <a:ext cx="3703320" cy="3630168"/>
          </a:xfrm>
          <a:prstGeom prst="roundRect">
            <a:avLst/>
          </a:prstGeom>
          <a:solidFill>
            <a:srgbClr val="1F1F22"/>
          </a:solidFill>
          <a:ln>
            <a:solidFill>
              <a:srgbClr val="9B3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_wil_site_2.png"/>
          <p:cNvPicPr>
            <a:picLocks noChangeAspect="1"/>
          </p:cNvPicPr>
          <p:nvPr/>
        </p:nvPicPr>
        <p:blipFill>
          <a:blip r:embed="rId4"/>
          <a:stretch>
            <a:fillRect/>
          </a:stretch>
        </p:blipFill>
        <p:spPr>
          <a:xfrm>
            <a:off x="4754879" y="2350121"/>
            <a:ext cx="3520440" cy="2870988"/>
          </a:xfrm>
          <a:prstGeom prst="rect">
            <a:avLst/>
          </a:prstGeom>
        </p:spPr>
      </p:pic>
      <p:sp>
        <p:nvSpPr>
          <p:cNvPr id="12" name="TextBox 11"/>
          <p:cNvSpPr txBox="1"/>
          <p:nvPr/>
        </p:nvSpPr>
        <p:spPr>
          <a:xfrm>
            <a:off x="4846320" y="5669280"/>
            <a:ext cx="3429000" cy="274320"/>
          </a:xfrm>
          <a:prstGeom prst="rect">
            <a:avLst/>
          </a:prstGeom>
          <a:noFill/>
        </p:spPr>
        <p:txBody>
          <a:bodyPr wrap="square" lIns="27432" tIns="27432" rIns="27432">
            <a:spAutoFit/>
          </a:bodyPr>
          <a:lstStyle/>
          <a:p>
            <a:pPr algn="ctr">
              <a:defRPr sz="1500" b="1">
                <a:solidFill>
                  <a:srgbClr val="9B30FF"/>
                </a:solidFill>
                <a:latin typeface="Aptos"/>
              </a:defRPr>
            </a:pPr>
            <a:r>
              <a:t>PACKAGES</a:t>
            </a:r>
          </a:p>
        </p:txBody>
      </p:sp>
      <p:sp>
        <p:nvSpPr>
          <p:cNvPr id="13" name="Rounded Rectangle 12"/>
          <p:cNvSpPr/>
          <p:nvPr/>
        </p:nvSpPr>
        <p:spPr>
          <a:xfrm>
            <a:off x="8613648" y="2130552"/>
            <a:ext cx="2926080" cy="3337560"/>
          </a:xfrm>
          <a:prstGeom prst="roundRect">
            <a:avLst/>
          </a:prstGeom>
          <a:solidFill>
            <a:srgbClr val="1F1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842248" y="2350008"/>
            <a:ext cx="2560320" cy="347472"/>
          </a:xfrm>
          <a:prstGeom prst="rect">
            <a:avLst/>
          </a:prstGeom>
          <a:noFill/>
        </p:spPr>
        <p:txBody>
          <a:bodyPr wrap="square" lIns="27432" tIns="27432" rIns="27432">
            <a:spAutoFit/>
          </a:bodyPr>
          <a:lstStyle/>
          <a:p>
            <a:pPr algn="l">
              <a:defRPr sz="2000" b="1">
                <a:solidFill>
                  <a:srgbClr val="00FFFF"/>
                </a:solidFill>
                <a:latin typeface="Aptos"/>
              </a:defRPr>
            </a:pPr>
            <a:r>
              <a:t>What to explain</a:t>
            </a:r>
          </a:p>
        </p:txBody>
      </p:sp>
      <p:sp>
        <p:nvSpPr>
          <p:cNvPr id="15" name="TextBox 14"/>
          <p:cNvSpPr txBox="1"/>
          <p:nvPr/>
        </p:nvSpPr>
        <p:spPr>
          <a:xfrm>
            <a:off x="8869680" y="2907792"/>
            <a:ext cx="2377440" cy="2423160"/>
          </a:xfrm>
          <a:prstGeom prst="rect">
            <a:avLst/>
          </a:prstGeom>
          <a:noFill/>
        </p:spPr>
        <p:txBody>
          <a:bodyPr wrap="square" lIns="27432" tIns="27432" rIns="27432">
            <a:spAutoFit/>
          </a:bodyPr>
          <a:lstStyle/>
          <a:p>
            <a:pPr algn="l">
              <a:defRPr sz="1600" b="0">
                <a:solidFill>
                  <a:srgbClr val="F5F5FA"/>
                </a:solidFill>
                <a:latin typeface="Aptos"/>
              </a:defRPr>
            </a:pPr>
            <a:r>
              <a:t>1. The home page introduces the arena.</a:t>
            </a:r>
            <a:br/>
            <a:br/>
            <a:r>
              <a:t>2. Visitors can view featured packages and tournaments.</a:t>
            </a:r>
            <a:br/>
            <a:br/>
            <a:r>
              <a:t>3. The Packages page lets them compare gaming experiences.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621792" y="274320"/>
            <a:ext cx="7315200" cy="274320"/>
          </a:xfrm>
          <a:prstGeom prst="rect">
            <a:avLst/>
          </a:prstGeom>
          <a:noFill/>
        </p:spPr>
        <p:txBody>
          <a:bodyPr wrap="square" lIns="27432" tIns="27432" rIns="27432">
            <a:spAutoFit/>
          </a:bodyPr>
          <a:lstStyle/>
          <a:p>
            <a:pPr algn="l">
              <a:defRPr sz="1100" b="1">
                <a:solidFill>
                  <a:srgbClr val="9B30FF"/>
                </a:solidFill>
                <a:latin typeface="Aptos"/>
              </a:defRPr>
            </a:pPr>
            <a:r>
              <a:t>NEXT LEVEL  /  DEMONSTRATION</a:t>
            </a:r>
          </a:p>
        </p:txBody>
      </p:sp>
      <p:sp>
        <p:nvSpPr>
          <p:cNvPr id="3" name="TextBox 2"/>
          <p:cNvSpPr txBox="1"/>
          <p:nvPr/>
        </p:nvSpPr>
        <p:spPr>
          <a:xfrm>
            <a:off x="612648" y="621792"/>
            <a:ext cx="10972800" cy="457200"/>
          </a:xfrm>
          <a:prstGeom prst="rect">
            <a:avLst/>
          </a:prstGeom>
          <a:noFill/>
        </p:spPr>
        <p:txBody>
          <a:bodyPr wrap="square" lIns="27432" tIns="27432" rIns="27432">
            <a:spAutoFit/>
          </a:bodyPr>
          <a:lstStyle/>
          <a:p>
            <a:pPr algn="l">
              <a:defRPr sz="2700" b="1">
                <a:solidFill>
                  <a:srgbClr val="F5F5FA"/>
                </a:solidFill>
                <a:latin typeface="Aptos"/>
              </a:defRPr>
            </a:pPr>
            <a:r>
              <a:t>Website walkthrough  |  Calculate fees</a:t>
            </a:r>
          </a:p>
        </p:txBody>
      </p:sp>
      <p:sp>
        <p:nvSpPr>
          <p:cNvPr id="4" name="Rectangle 3"/>
          <p:cNvSpPr/>
          <p:nvPr/>
        </p:nvSpPr>
        <p:spPr>
          <a:xfrm>
            <a:off x="640080" y="1225296"/>
            <a:ext cx="1097280" cy="50292"/>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362456"/>
            <a:ext cx="10972800" cy="402336"/>
          </a:xfrm>
          <a:prstGeom prst="rect">
            <a:avLst/>
          </a:prstGeom>
          <a:noFill/>
        </p:spPr>
        <p:txBody>
          <a:bodyPr wrap="square" lIns="27432" tIns="27432" rIns="27432">
            <a:spAutoFit/>
          </a:bodyPr>
          <a:lstStyle/>
          <a:p>
            <a:pPr algn="l">
              <a:defRPr sz="1400" b="0">
                <a:solidFill>
                  <a:srgbClr val="B9C2CB"/>
                </a:solidFill>
                <a:latin typeface="Aptos"/>
              </a:defRPr>
            </a:pPr>
            <a:r>
              <a:t>Website calculator screenshot from Task 2 — explain the pricing steps</a:t>
            </a:r>
          </a:p>
        </p:txBody>
      </p:sp>
      <p:sp>
        <p:nvSpPr>
          <p:cNvPr id="6" name="TextBox 5"/>
          <p:cNvSpPr txBox="1"/>
          <p:nvPr/>
        </p:nvSpPr>
        <p:spPr>
          <a:xfrm>
            <a:off x="621792" y="6446520"/>
            <a:ext cx="8229600" cy="182880"/>
          </a:xfrm>
          <a:prstGeom prst="rect">
            <a:avLst/>
          </a:prstGeom>
          <a:noFill/>
        </p:spPr>
        <p:txBody>
          <a:bodyPr wrap="square" lIns="27432" tIns="27432" rIns="27432">
            <a:spAutoFit/>
          </a:bodyPr>
          <a:lstStyle/>
          <a:p>
            <a:pPr algn="l">
              <a:defRPr sz="900" b="1">
                <a:solidFill>
                  <a:srgbClr val="B9C2CB"/>
                </a:solidFill>
                <a:latin typeface="Aptos"/>
              </a:defRPr>
            </a:pPr>
            <a:r>
              <a:t>NEXT LEVEL GAMING &amp; ESPORTS ARENA</a:t>
            </a:r>
          </a:p>
        </p:txBody>
      </p:sp>
      <p:sp>
        <p:nvSpPr>
          <p:cNvPr id="7" name="Rounded Rectangle 6"/>
          <p:cNvSpPr/>
          <p:nvPr/>
        </p:nvSpPr>
        <p:spPr>
          <a:xfrm>
            <a:off x="685800" y="1874519"/>
            <a:ext cx="7360920" cy="4297680"/>
          </a:xfrm>
          <a:prstGeom prst="roundRect">
            <a:avLst/>
          </a:prstGeom>
          <a:solidFill>
            <a:srgbClr val="1F1F22"/>
          </a:solidFill>
          <a:ln>
            <a:solidFill>
              <a:srgbClr val="00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_wil_site_3.png"/>
          <p:cNvPicPr>
            <a:picLocks noChangeAspect="1"/>
          </p:cNvPicPr>
          <p:nvPr/>
        </p:nvPicPr>
        <p:blipFill>
          <a:blip r:embed="rId3"/>
          <a:stretch>
            <a:fillRect/>
          </a:stretch>
        </p:blipFill>
        <p:spPr>
          <a:xfrm>
            <a:off x="2002585" y="1956816"/>
            <a:ext cx="4727348" cy="4114800"/>
          </a:xfrm>
          <a:prstGeom prst="rect">
            <a:avLst/>
          </a:prstGeom>
        </p:spPr>
      </p:pic>
      <p:sp>
        <p:nvSpPr>
          <p:cNvPr id="9" name="Rounded Rectangle 8"/>
          <p:cNvSpPr/>
          <p:nvPr/>
        </p:nvSpPr>
        <p:spPr>
          <a:xfrm>
            <a:off x="8302752" y="1938528"/>
            <a:ext cx="3246120" cy="4160520"/>
          </a:xfrm>
          <a:prstGeom prst="roundRect">
            <a:avLst/>
          </a:prstGeom>
          <a:solidFill>
            <a:srgbClr val="1F1F2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8567928" y="2194560"/>
            <a:ext cx="2697480" cy="320040"/>
          </a:xfrm>
          <a:prstGeom prst="rect">
            <a:avLst/>
          </a:prstGeom>
          <a:noFill/>
        </p:spPr>
        <p:txBody>
          <a:bodyPr wrap="square" lIns="27432" tIns="27432" rIns="27432">
            <a:spAutoFit/>
          </a:bodyPr>
          <a:lstStyle/>
          <a:p>
            <a:pPr algn="l">
              <a:defRPr sz="1900" b="1">
                <a:solidFill>
                  <a:srgbClr val="00FFFF"/>
                </a:solidFill>
                <a:latin typeface="Aptos"/>
              </a:defRPr>
            </a:pPr>
            <a:r>
              <a:t>Customer journey</a:t>
            </a:r>
          </a:p>
        </p:txBody>
      </p:sp>
      <p:sp>
        <p:nvSpPr>
          <p:cNvPr id="11" name="TextBox 10"/>
          <p:cNvSpPr txBox="1"/>
          <p:nvPr/>
        </p:nvSpPr>
        <p:spPr>
          <a:xfrm>
            <a:off x="8567928" y="2752344"/>
            <a:ext cx="2715768" cy="2651760"/>
          </a:xfrm>
          <a:prstGeom prst="rect">
            <a:avLst/>
          </a:prstGeom>
          <a:noFill/>
        </p:spPr>
        <p:txBody>
          <a:bodyPr wrap="square" lIns="27432" tIns="27432" rIns="27432">
            <a:spAutoFit/>
          </a:bodyPr>
          <a:lstStyle/>
          <a:p>
            <a:pPr algn="l">
              <a:defRPr sz="1600" b="0">
                <a:solidFill>
                  <a:srgbClr val="F5F5FA"/>
                </a:solidFill>
                <a:latin typeface="Aptos"/>
              </a:defRPr>
            </a:pPr>
            <a:r>
              <a:t>1. Select packages and quantities.</a:t>
            </a:r>
            <a:br/>
            <a:br/>
            <a:r>
              <a:t>2. Apply the multi-booking discount.</a:t>
            </a:r>
            <a:br/>
            <a:br/>
            <a:r>
              <a:t>3. Add 15% VAT after discount.</a:t>
            </a:r>
            <a:br/>
            <a:br/>
            <a:r>
              <a:t>4. Show the final quotation.</a:t>
            </a:r>
          </a:p>
        </p:txBody>
      </p:sp>
      <p:sp>
        <p:nvSpPr>
          <p:cNvPr id="12" name="TextBox 11"/>
          <p:cNvSpPr txBox="1"/>
          <p:nvPr/>
        </p:nvSpPr>
        <p:spPr>
          <a:xfrm>
            <a:off x="8522208" y="5577840"/>
            <a:ext cx="2834640" cy="365760"/>
          </a:xfrm>
          <a:prstGeom prst="rect">
            <a:avLst/>
          </a:prstGeom>
          <a:noFill/>
        </p:spPr>
        <p:txBody>
          <a:bodyPr wrap="square" lIns="27432" tIns="27432" rIns="27432">
            <a:spAutoFit/>
          </a:bodyPr>
          <a:lstStyle/>
          <a:p>
            <a:pPr algn="l">
              <a:defRPr sz="1300" b="1">
                <a:solidFill>
                  <a:srgbClr val="00FF00"/>
                </a:solidFill>
                <a:latin typeface="Aptos"/>
              </a:defRPr>
            </a:pPr>
            <a:r>
              <a:t>Formula: (subtotal − discount) × 1.15</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621792" y="274320"/>
            <a:ext cx="7315200" cy="274320"/>
          </a:xfrm>
          <a:prstGeom prst="rect">
            <a:avLst/>
          </a:prstGeom>
          <a:noFill/>
        </p:spPr>
        <p:txBody>
          <a:bodyPr wrap="square" lIns="27432" tIns="27432" rIns="27432">
            <a:spAutoFit/>
          </a:bodyPr>
          <a:lstStyle/>
          <a:p>
            <a:pPr algn="l">
              <a:defRPr sz="1100" b="1">
                <a:solidFill>
                  <a:srgbClr val="9B30FF"/>
                </a:solidFill>
                <a:latin typeface="Aptos"/>
              </a:defRPr>
            </a:pPr>
            <a:r>
              <a:t>NEXT LEVEL  /  DEMONSTRATION</a:t>
            </a:r>
          </a:p>
        </p:txBody>
      </p:sp>
      <p:sp>
        <p:nvSpPr>
          <p:cNvPr id="3" name="TextBox 2"/>
          <p:cNvSpPr txBox="1"/>
          <p:nvPr/>
        </p:nvSpPr>
        <p:spPr>
          <a:xfrm>
            <a:off x="612648" y="621792"/>
            <a:ext cx="10972800" cy="457200"/>
          </a:xfrm>
          <a:prstGeom prst="rect">
            <a:avLst/>
          </a:prstGeom>
          <a:noFill/>
        </p:spPr>
        <p:txBody>
          <a:bodyPr wrap="square" lIns="27432" tIns="27432" rIns="27432">
            <a:spAutoFit/>
          </a:bodyPr>
          <a:lstStyle/>
          <a:p>
            <a:pPr algn="l">
              <a:defRPr sz="2700" b="1">
                <a:solidFill>
                  <a:srgbClr val="F5F5FA"/>
                </a:solidFill>
                <a:latin typeface="Aptos"/>
              </a:defRPr>
            </a:pPr>
            <a:r>
              <a:t>Mobile app walkthrough  |  Screen journey</a:t>
            </a:r>
          </a:p>
        </p:txBody>
      </p:sp>
      <p:sp>
        <p:nvSpPr>
          <p:cNvPr id="4" name="Rectangle 3"/>
          <p:cNvSpPr/>
          <p:nvPr/>
        </p:nvSpPr>
        <p:spPr>
          <a:xfrm>
            <a:off x="640080" y="1225296"/>
            <a:ext cx="1097280" cy="50292"/>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658368" y="1362456"/>
            <a:ext cx="10972800" cy="402336"/>
          </a:xfrm>
          <a:prstGeom prst="rect">
            <a:avLst/>
          </a:prstGeom>
          <a:noFill/>
        </p:spPr>
        <p:txBody>
          <a:bodyPr wrap="square" lIns="27432" tIns="27432" rIns="27432">
            <a:spAutoFit/>
          </a:bodyPr>
          <a:lstStyle/>
          <a:p>
            <a:pPr algn="l">
              <a:defRPr sz="1400" b="0">
                <a:solidFill>
                  <a:srgbClr val="B9C2CB"/>
                </a:solidFill>
                <a:latin typeface="Aptos"/>
              </a:defRPr>
            </a:pPr>
            <a:r>
              <a:t>Mobile design previews from the Phase 3 report — not a running app</a:t>
            </a:r>
          </a:p>
        </p:txBody>
      </p:sp>
      <p:sp>
        <p:nvSpPr>
          <p:cNvPr id="6" name="TextBox 5"/>
          <p:cNvSpPr txBox="1"/>
          <p:nvPr/>
        </p:nvSpPr>
        <p:spPr>
          <a:xfrm>
            <a:off x="621792" y="6446520"/>
            <a:ext cx="8229600" cy="182880"/>
          </a:xfrm>
          <a:prstGeom prst="rect">
            <a:avLst/>
          </a:prstGeom>
          <a:noFill/>
        </p:spPr>
        <p:txBody>
          <a:bodyPr wrap="square" lIns="27432" tIns="27432" rIns="27432">
            <a:spAutoFit/>
          </a:bodyPr>
          <a:lstStyle/>
          <a:p>
            <a:pPr algn="l">
              <a:defRPr sz="900" b="1">
                <a:solidFill>
                  <a:srgbClr val="B9C2CB"/>
                </a:solidFill>
                <a:latin typeface="Aptos"/>
              </a:defRPr>
            </a:pPr>
            <a:r>
              <a:t>NEXT LEVEL GAMING &amp; ESPORTS ARENA</a:t>
            </a:r>
          </a:p>
        </p:txBody>
      </p:sp>
      <p:sp>
        <p:nvSpPr>
          <p:cNvPr id="7" name="Rounded Rectangle 6"/>
          <p:cNvSpPr/>
          <p:nvPr/>
        </p:nvSpPr>
        <p:spPr>
          <a:xfrm>
            <a:off x="676656" y="1920240"/>
            <a:ext cx="2578608" cy="3895344"/>
          </a:xfrm>
          <a:prstGeom prst="roundRect">
            <a:avLst/>
          </a:prstGeom>
          <a:solidFill>
            <a:srgbClr val="1F1F22"/>
          </a:solidFill>
          <a:ln>
            <a:solidFill>
              <a:srgbClr val="00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8" name="Picture 7" descr="image.jpg"/>
          <p:cNvPicPr>
            <a:picLocks noChangeAspect="1"/>
          </p:cNvPicPr>
          <p:nvPr/>
        </p:nvPicPr>
        <p:blipFill>
          <a:blip r:embed="rId3"/>
          <a:stretch>
            <a:fillRect/>
          </a:stretch>
        </p:blipFill>
        <p:spPr>
          <a:xfrm>
            <a:off x="1127236" y="1965959"/>
            <a:ext cx="1677447" cy="3630168"/>
          </a:xfrm>
          <a:prstGeom prst="rect">
            <a:avLst/>
          </a:prstGeom>
        </p:spPr>
      </p:pic>
      <p:sp>
        <p:nvSpPr>
          <p:cNvPr id="9" name="TextBox 8"/>
          <p:cNvSpPr txBox="1"/>
          <p:nvPr/>
        </p:nvSpPr>
        <p:spPr>
          <a:xfrm>
            <a:off x="768096" y="5852160"/>
            <a:ext cx="2386584" cy="292608"/>
          </a:xfrm>
          <a:prstGeom prst="rect">
            <a:avLst/>
          </a:prstGeom>
          <a:noFill/>
        </p:spPr>
        <p:txBody>
          <a:bodyPr wrap="square" lIns="27432" tIns="27432" rIns="27432">
            <a:spAutoFit/>
          </a:bodyPr>
          <a:lstStyle/>
          <a:p>
            <a:pPr algn="ctr">
              <a:defRPr sz="1400" b="1">
                <a:solidFill>
                  <a:srgbClr val="00FFFF"/>
                </a:solidFill>
                <a:latin typeface="Aptos"/>
              </a:defRPr>
            </a:pPr>
            <a:r>
              <a:t>HOME</a:t>
            </a:r>
          </a:p>
        </p:txBody>
      </p:sp>
      <p:sp>
        <p:nvSpPr>
          <p:cNvPr id="10" name="Rounded Rectangle 9"/>
          <p:cNvSpPr/>
          <p:nvPr/>
        </p:nvSpPr>
        <p:spPr>
          <a:xfrm>
            <a:off x="3557015" y="1920240"/>
            <a:ext cx="2578608" cy="3895344"/>
          </a:xfrm>
          <a:prstGeom prst="roundRect">
            <a:avLst/>
          </a:prstGeom>
          <a:solidFill>
            <a:srgbClr val="1F1F22"/>
          </a:solidFill>
          <a:ln>
            <a:solidFill>
              <a:srgbClr val="9B30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1" name="Picture 10" descr="image.png"/>
          <p:cNvPicPr>
            <a:picLocks noChangeAspect="1"/>
          </p:cNvPicPr>
          <p:nvPr/>
        </p:nvPicPr>
        <p:blipFill>
          <a:blip r:embed="rId4"/>
          <a:stretch>
            <a:fillRect/>
          </a:stretch>
        </p:blipFill>
        <p:spPr>
          <a:xfrm>
            <a:off x="4111239" y="1965960"/>
            <a:ext cx="1470161" cy="3630168"/>
          </a:xfrm>
          <a:prstGeom prst="rect">
            <a:avLst/>
          </a:prstGeom>
        </p:spPr>
      </p:pic>
      <p:sp>
        <p:nvSpPr>
          <p:cNvPr id="12" name="TextBox 11"/>
          <p:cNvSpPr txBox="1"/>
          <p:nvPr/>
        </p:nvSpPr>
        <p:spPr>
          <a:xfrm>
            <a:off x="3648456" y="5852160"/>
            <a:ext cx="2386584" cy="292608"/>
          </a:xfrm>
          <a:prstGeom prst="rect">
            <a:avLst/>
          </a:prstGeom>
          <a:noFill/>
        </p:spPr>
        <p:txBody>
          <a:bodyPr wrap="square" lIns="27432" tIns="27432" rIns="27432">
            <a:spAutoFit/>
          </a:bodyPr>
          <a:lstStyle/>
          <a:p>
            <a:pPr algn="ctr">
              <a:defRPr sz="1400" b="1">
                <a:solidFill>
                  <a:srgbClr val="9B30FF"/>
                </a:solidFill>
                <a:latin typeface="Aptos"/>
              </a:defRPr>
            </a:pPr>
            <a:r>
              <a:t>PACKAGES</a:t>
            </a:r>
          </a:p>
        </p:txBody>
      </p:sp>
      <p:sp>
        <p:nvSpPr>
          <p:cNvPr id="13" name="Rounded Rectangle 12"/>
          <p:cNvSpPr/>
          <p:nvPr/>
        </p:nvSpPr>
        <p:spPr>
          <a:xfrm>
            <a:off x="6437376" y="1920240"/>
            <a:ext cx="2578608" cy="3895344"/>
          </a:xfrm>
          <a:prstGeom prst="roundRect">
            <a:avLst/>
          </a:prstGeom>
          <a:solidFill>
            <a:srgbClr val="1F1F22"/>
          </a:solidFill>
          <a:ln>
            <a:solidFill>
              <a:srgbClr val="00FF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4" name="Picture 13" descr="image.png"/>
          <p:cNvPicPr>
            <a:picLocks noChangeAspect="1"/>
          </p:cNvPicPr>
          <p:nvPr/>
        </p:nvPicPr>
        <p:blipFill>
          <a:blip r:embed="rId5"/>
          <a:stretch>
            <a:fillRect/>
          </a:stretch>
        </p:blipFill>
        <p:spPr>
          <a:xfrm>
            <a:off x="6887956" y="1965959"/>
            <a:ext cx="1677447" cy="3630168"/>
          </a:xfrm>
          <a:prstGeom prst="rect">
            <a:avLst/>
          </a:prstGeom>
        </p:spPr>
      </p:pic>
      <p:sp>
        <p:nvSpPr>
          <p:cNvPr id="15" name="TextBox 14"/>
          <p:cNvSpPr txBox="1"/>
          <p:nvPr/>
        </p:nvSpPr>
        <p:spPr>
          <a:xfrm>
            <a:off x="6528816" y="5852160"/>
            <a:ext cx="2386584" cy="292608"/>
          </a:xfrm>
          <a:prstGeom prst="rect">
            <a:avLst/>
          </a:prstGeom>
          <a:noFill/>
        </p:spPr>
        <p:txBody>
          <a:bodyPr wrap="square" lIns="27432" tIns="27432" rIns="27432">
            <a:spAutoFit/>
          </a:bodyPr>
          <a:lstStyle/>
          <a:p>
            <a:pPr algn="ctr">
              <a:defRPr sz="1400" b="1">
                <a:solidFill>
                  <a:srgbClr val="00FF00"/>
                </a:solidFill>
                <a:latin typeface="Aptos"/>
              </a:defRPr>
            </a:pPr>
            <a:r>
              <a:t>FEES</a:t>
            </a:r>
          </a:p>
        </p:txBody>
      </p:sp>
      <p:sp>
        <p:nvSpPr>
          <p:cNvPr id="16" name="Rounded Rectangle 15"/>
          <p:cNvSpPr/>
          <p:nvPr/>
        </p:nvSpPr>
        <p:spPr>
          <a:xfrm>
            <a:off x="9317736" y="1920240"/>
            <a:ext cx="2578608" cy="3895344"/>
          </a:xfrm>
          <a:prstGeom prst="roundRect">
            <a:avLst/>
          </a:prstGeom>
          <a:solidFill>
            <a:srgbClr val="1F1F22"/>
          </a:solidFill>
          <a:ln>
            <a:solidFill>
              <a:srgbClr val="00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pic>
        <p:nvPicPr>
          <p:cNvPr id="17" name="Picture 16" descr="_wil_wire_5.png"/>
          <p:cNvPicPr>
            <a:picLocks noChangeAspect="1"/>
          </p:cNvPicPr>
          <p:nvPr/>
        </p:nvPicPr>
        <p:blipFill>
          <a:blip r:embed="rId6"/>
          <a:stretch>
            <a:fillRect/>
          </a:stretch>
        </p:blipFill>
        <p:spPr>
          <a:xfrm>
            <a:off x="9768316" y="1965959"/>
            <a:ext cx="1677447" cy="3630168"/>
          </a:xfrm>
          <a:prstGeom prst="rect">
            <a:avLst/>
          </a:prstGeom>
        </p:spPr>
      </p:pic>
      <p:sp>
        <p:nvSpPr>
          <p:cNvPr id="18" name="TextBox 17"/>
          <p:cNvSpPr txBox="1"/>
          <p:nvPr/>
        </p:nvSpPr>
        <p:spPr>
          <a:xfrm>
            <a:off x="9409176" y="5852160"/>
            <a:ext cx="2386584" cy="292608"/>
          </a:xfrm>
          <a:prstGeom prst="rect">
            <a:avLst/>
          </a:prstGeom>
          <a:noFill/>
        </p:spPr>
        <p:txBody>
          <a:bodyPr wrap="square" lIns="27432" tIns="27432" rIns="27432">
            <a:spAutoFit/>
          </a:bodyPr>
          <a:lstStyle/>
          <a:p>
            <a:pPr algn="ctr">
              <a:defRPr sz="1400" b="1">
                <a:solidFill>
                  <a:srgbClr val="00FFFF"/>
                </a:solidFill>
                <a:latin typeface="Aptos"/>
              </a:defRPr>
            </a:pPr>
            <a:r>
              <a:t>CONTACT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NEXT LEVEL • WIL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Calculator logic &amp; testing</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13</a:t>
            </a:r>
          </a:p>
        </p:txBody>
      </p:sp>
      <p:sp>
        <p:nvSpPr>
          <p:cNvPr id="6" name="TextBox 5"/>
          <p:cNvSpPr txBox="1"/>
          <p:nvPr/>
        </p:nvSpPr>
        <p:spPr>
          <a:xfrm>
            <a:off x="777240" y="1828800"/>
            <a:ext cx="10058400" cy="4297680"/>
          </a:xfrm>
          <a:prstGeom prst="rect">
            <a:avLst/>
          </a:prstGeom>
          <a:noFill/>
        </p:spPr>
        <p:txBody>
          <a:bodyPr wrap="square">
            <a:spAutoFit/>
          </a:bodyPr>
          <a:lstStyle/>
          <a:p>
            <a:pPr>
              <a:spcAft>
                <a:spcPts val="1700"/>
              </a:spcAft>
              <a:defRPr sz="1900" b="0">
                <a:solidFill>
                  <a:srgbClr val="F5F7FB"/>
                </a:solidFill>
                <a:latin typeface="Aptos"/>
              </a:defRPr>
            </a:pPr>
            <a:r>
              <a:t>•  Discount tiers: 1 booking = 0%; 2 = 5%; 3 = 10%; 4 or more = 15%.</a:t>
            </a:r>
          </a:p>
          <a:p>
            <a:pPr>
              <a:spcAft>
                <a:spcPts val="1700"/>
              </a:spcAft>
              <a:defRPr sz="1900">
                <a:solidFill>
                  <a:srgbClr val="F5F7FB"/>
                </a:solidFill>
                <a:latin typeface="Aptos"/>
              </a:defRPr>
            </a:pPr>
            <a:r>
              <a:t>•  VAT: 15% added after the discount.</a:t>
            </a:r>
          </a:p>
          <a:p>
            <a:pPr>
              <a:spcAft>
                <a:spcPts val="1700"/>
              </a:spcAft>
              <a:defRPr sz="1900">
                <a:solidFill>
                  <a:srgbClr val="F5F7FB"/>
                </a:solidFill>
                <a:latin typeface="Aptos"/>
              </a:defRPr>
            </a:pPr>
            <a:r>
              <a:t>•  Test: R1,500 + R650 = R2,150 subtotal.</a:t>
            </a:r>
          </a:p>
          <a:p>
            <a:pPr>
              <a:spcAft>
                <a:spcPts val="1700"/>
              </a:spcAft>
              <a:defRPr sz="1900">
                <a:solidFill>
                  <a:srgbClr val="F5F7FB"/>
                </a:solidFill>
                <a:latin typeface="Aptos"/>
              </a:defRPr>
            </a:pPr>
            <a:r>
              <a:t>•  5% discount = R107.50; VAT = R306.38; final total = R2,348.88.</a:t>
            </a:r>
          </a:p>
          <a:p>
            <a:pPr>
              <a:spcAft>
                <a:spcPts val="1700"/>
              </a:spcAft>
              <a:defRPr sz="1900">
                <a:solidFill>
                  <a:srgbClr val="F5F7FB"/>
                </a:solidFill>
                <a:latin typeface="Aptos"/>
              </a:defRPr>
            </a:pPr>
            <a:r>
              <a:t>•  Website checked at 1366px desktop and 390px mobile widths.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NEXT LEVEL • WIL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Progress, remaining work &amp; conclusion</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14</a:t>
            </a:r>
          </a:p>
        </p:txBody>
      </p:sp>
      <p:sp>
        <p:nvSpPr>
          <p:cNvPr id="6" name="TextBox 5"/>
          <p:cNvSpPr txBox="1"/>
          <p:nvPr/>
        </p:nvSpPr>
        <p:spPr>
          <a:xfrm>
            <a:off x="777240" y="1828800"/>
            <a:ext cx="10058400" cy="4297680"/>
          </a:xfrm>
          <a:prstGeom prst="rect">
            <a:avLst/>
          </a:prstGeom>
          <a:noFill/>
        </p:spPr>
        <p:txBody>
          <a:bodyPr wrap="square">
            <a:spAutoFit/>
          </a:bodyPr>
          <a:lstStyle/>
          <a:p>
            <a:pPr>
              <a:spcAft>
                <a:spcPts val="1700"/>
              </a:spcAft>
              <a:defRPr sz="1900" b="0">
                <a:solidFill>
                  <a:srgbClr val="F5F7FB"/>
                </a:solidFill>
                <a:latin typeface="Aptos"/>
              </a:defRPr>
            </a:pPr>
            <a:r>
              <a:t>•  Completed: branding, wireframes, core mobile app screens and website HTML pages.</a:t>
            </a:r>
          </a:p>
          <a:p>
            <a:pPr>
              <a:spcAft>
                <a:spcPts val="1700"/>
              </a:spcAft>
              <a:defRPr sz="1900">
                <a:solidFill>
                  <a:srgbClr val="F5F7FB"/>
                </a:solidFill>
                <a:latin typeface="Aptos"/>
              </a:defRPr>
            </a:pPr>
            <a:r>
              <a:t>•  Tested: quotation calculation, responsive layouts and form validation rules.</a:t>
            </a:r>
          </a:p>
          <a:p>
            <a:pPr>
              <a:spcAft>
                <a:spcPts val="1700"/>
              </a:spcAft>
              <a:defRPr sz="1900">
                <a:solidFill>
                  <a:srgbClr val="F5F7FB"/>
                </a:solidFill>
                <a:latin typeface="Aptos"/>
              </a:defRPr>
            </a:pPr>
            <a:r>
              <a:t>•  Remaining work identified in Task 2: polish, photography, map, accessibility testing and GitHub Pages deployment.</a:t>
            </a:r>
          </a:p>
          <a:p>
            <a:pPr>
              <a:spcAft>
                <a:spcPts val="1700"/>
              </a:spcAft>
              <a:defRPr sz="1900">
                <a:solidFill>
                  <a:srgbClr val="F5F7FB"/>
                </a:solidFill>
                <a:latin typeface="Aptos"/>
              </a:defRPr>
            </a:pPr>
            <a:r>
              <a:t>•  Our solution provides a consistent experience for browsing gaming packages on web and mobile.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121212"/>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lIns="18288" tIns="18288" rIns="36576" bIns="18288">
            <a:spAutoFit/>
          </a:bodyPr>
          <a:lstStyle/>
          <a:p>
            <a:pPr>
              <a:defRPr sz="1200" b="1">
                <a:solidFill>
                  <a:srgbClr val="B073FF"/>
                </a:solidFill>
                <a:latin typeface="Aptos"/>
              </a:defRPr>
            </a:pPr>
            <a:r>
              <a:t>NEXT LEVEL • WIL PRESENTATION</a:t>
            </a:r>
          </a:p>
        </p:txBody>
      </p:sp>
      <p:sp>
        <p:nvSpPr>
          <p:cNvPr id="3" name="TextBox 2"/>
          <p:cNvSpPr txBox="1"/>
          <p:nvPr/>
        </p:nvSpPr>
        <p:spPr>
          <a:xfrm>
            <a:off x="594360" y="685800"/>
            <a:ext cx="10972800" cy="594360"/>
          </a:xfrm>
          <a:prstGeom prst="rect">
            <a:avLst/>
          </a:prstGeom>
          <a:noFill/>
        </p:spPr>
        <p:txBody>
          <a:bodyPr wrap="square" lIns="18288" tIns="18288" rIns="36576" bIns="18288">
            <a:spAutoFit/>
          </a:bodyPr>
          <a:lstStyle/>
          <a:p>
            <a:pPr>
              <a:defRPr sz="3100" b="1">
                <a:solidFill>
                  <a:srgbClr val="F8F9FB"/>
                </a:solidFill>
                <a:latin typeface="Aptos"/>
              </a:defRPr>
            </a:pPr>
            <a:r>
              <a:t>References — Harvard style</a:t>
            </a:r>
          </a:p>
        </p:txBody>
      </p:sp>
      <p:sp>
        <p:nvSpPr>
          <p:cNvPr id="4" name="Rectangle 3"/>
          <p:cNvSpPr/>
          <p:nvPr/>
        </p:nvSpPr>
        <p:spPr>
          <a:xfrm>
            <a:off x="640080" y="1389888"/>
            <a:ext cx="1005840" cy="36576"/>
          </a:xfrm>
          <a:prstGeom prst="rect">
            <a:avLst/>
          </a:prstGeom>
          <a:solidFill>
            <a:srgbClr val="00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lIns="18288" tIns="18288" rIns="36576" bIns="18288">
            <a:spAutoFit/>
          </a:bodyPr>
          <a:lstStyle/>
          <a:p>
            <a:pPr>
              <a:defRPr sz="1100" b="1">
                <a:solidFill>
                  <a:srgbClr val="C7CCD6"/>
                </a:solidFill>
                <a:latin typeface="Aptos"/>
              </a:defRPr>
            </a:pPr>
            <a:r>
              <a:t>15</a:t>
            </a:r>
          </a:p>
        </p:txBody>
      </p:sp>
      <p:sp>
        <p:nvSpPr>
          <p:cNvPr id="6" name="TextBox 5"/>
          <p:cNvSpPr txBox="1"/>
          <p:nvPr/>
        </p:nvSpPr>
        <p:spPr>
          <a:xfrm>
            <a:off x="777240" y="1773936"/>
            <a:ext cx="10625328" cy="535531"/>
          </a:xfrm>
          <a:prstGeom prst="rect">
            <a:avLst/>
          </a:prstGeom>
          <a:noFill/>
        </p:spPr>
        <p:txBody>
          <a:bodyPr wrap="square" lIns="18288" tIns="18288" rIns="36576" bIns="18288">
            <a:spAutoFit/>
          </a:bodyPr>
          <a:lstStyle/>
          <a:p>
            <a:pPr>
              <a:defRPr sz="1620" b="0">
                <a:solidFill>
                  <a:srgbClr val="F8F9FB"/>
                </a:solidFill>
                <a:latin typeface="Aptos"/>
              </a:defRPr>
            </a:pPr>
            <a:r>
              <a:rPr dirty="0"/>
              <a:t>Figma (2026) Figma design tool. Available at:</a:t>
            </a:r>
            <a:r>
              <a:rPr lang="en-ZA" dirty="0"/>
              <a:t>https://www.figma.com/design/6jIPelv1mDI1LIWjoFn7V3/Untitled?node-id=39-2&amp;t=TWrmj1rX40UdcPa8-1</a:t>
            </a:r>
            <a:endParaRPr dirty="0"/>
          </a:p>
        </p:txBody>
      </p:sp>
      <p:sp>
        <p:nvSpPr>
          <p:cNvPr id="7" name="TextBox 6"/>
          <p:cNvSpPr txBox="1"/>
          <p:nvPr/>
        </p:nvSpPr>
        <p:spPr>
          <a:xfrm>
            <a:off x="777240" y="2478024"/>
            <a:ext cx="10625328" cy="535531"/>
          </a:xfrm>
          <a:prstGeom prst="rect">
            <a:avLst/>
          </a:prstGeom>
          <a:noFill/>
        </p:spPr>
        <p:txBody>
          <a:bodyPr wrap="square" lIns="18288" tIns="18288" rIns="36576" bIns="18288">
            <a:spAutoFit/>
          </a:bodyPr>
          <a:lstStyle/>
          <a:p>
            <a:pPr>
              <a:defRPr sz="1620" b="0">
                <a:solidFill>
                  <a:srgbClr val="F8F9FB"/>
                </a:solidFill>
                <a:latin typeface="Aptos"/>
              </a:defRPr>
            </a:pPr>
            <a:r>
              <a:rPr dirty="0"/>
              <a:t>GitHub, Inc. (2026)</a:t>
            </a:r>
            <a:r>
              <a:rPr lang="en-ZA" dirty="0"/>
              <a:t>.</a:t>
            </a:r>
            <a:r>
              <a:rPr dirty="0"/>
              <a:t> GitHub. Available at: </a:t>
            </a:r>
            <a:r>
              <a:rPr lang="en-ZA" sz="1620" dirty="0">
                <a:solidFill>
                  <a:srgbClr val="F8F9FB"/>
                </a:solidFill>
                <a:latin typeface="Aptos"/>
                <a:hlinkClick r:id="rId3"/>
              </a:rPr>
              <a:t>mosesthegreat555-ceaser/Next-Level-Gaming-Esports-Arena </a:t>
            </a:r>
            <a:r>
              <a:rPr dirty="0"/>
              <a:t>(Accessed: 9 October 2026).</a:t>
            </a:r>
          </a:p>
        </p:txBody>
      </p:sp>
      <p:sp>
        <p:nvSpPr>
          <p:cNvPr id="8" name="TextBox 7"/>
          <p:cNvSpPr txBox="1"/>
          <p:nvPr/>
        </p:nvSpPr>
        <p:spPr>
          <a:xfrm>
            <a:off x="777240" y="3182112"/>
            <a:ext cx="10625328" cy="585216"/>
          </a:xfrm>
          <a:prstGeom prst="rect">
            <a:avLst/>
          </a:prstGeom>
          <a:noFill/>
        </p:spPr>
        <p:txBody>
          <a:bodyPr wrap="square" lIns="18288" tIns="18288" rIns="36576" bIns="18288">
            <a:spAutoFit/>
          </a:bodyPr>
          <a:lstStyle/>
          <a:p>
            <a:pPr>
              <a:defRPr sz="1620" b="0">
                <a:solidFill>
                  <a:srgbClr val="F8F9FB"/>
                </a:solidFill>
                <a:latin typeface="Aptos"/>
              </a:defRPr>
            </a:pPr>
            <a:r>
              <a:t>Madileng, R.K. (2026) Next Level Gaming &amp; Esports Arena: XHAW5112 Task 2. Unpublished student project report.</a:t>
            </a:r>
          </a:p>
        </p:txBody>
      </p:sp>
      <p:sp>
        <p:nvSpPr>
          <p:cNvPr id="9" name="TextBox 8"/>
          <p:cNvSpPr txBox="1"/>
          <p:nvPr/>
        </p:nvSpPr>
        <p:spPr>
          <a:xfrm>
            <a:off x="777240" y="3886200"/>
            <a:ext cx="10625328" cy="585216"/>
          </a:xfrm>
          <a:prstGeom prst="rect">
            <a:avLst/>
          </a:prstGeom>
          <a:noFill/>
        </p:spPr>
        <p:txBody>
          <a:bodyPr wrap="square" lIns="18288" tIns="18288" rIns="36576" bIns="18288">
            <a:spAutoFit/>
          </a:bodyPr>
          <a:lstStyle/>
          <a:p>
            <a:pPr>
              <a:defRPr sz="1620" b="0">
                <a:solidFill>
                  <a:srgbClr val="F8F9FB"/>
                </a:solidFill>
                <a:latin typeface="Aptos"/>
              </a:defRPr>
            </a:pPr>
            <a:r>
              <a:t>Microsoft Corporation (2026) Visual Studio Code. Available at: https://code.visualstudio.com/ (Accessed: 9 October 2026).</a:t>
            </a:r>
          </a:p>
        </p:txBody>
      </p:sp>
      <p:sp>
        <p:nvSpPr>
          <p:cNvPr id="10" name="TextBox 9"/>
          <p:cNvSpPr txBox="1"/>
          <p:nvPr/>
        </p:nvSpPr>
        <p:spPr>
          <a:xfrm>
            <a:off x="777240" y="4590288"/>
            <a:ext cx="10625328" cy="585216"/>
          </a:xfrm>
          <a:prstGeom prst="rect">
            <a:avLst/>
          </a:prstGeom>
          <a:noFill/>
        </p:spPr>
        <p:txBody>
          <a:bodyPr wrap="square" lIns="18288" tIns="18288" rIns="36576" bIns="18288">
            <a:spAutoFit/>
          </a:bodyPr>
          <a:lstStyle/>
          <a:p>
            <a:pPr>
              <a:defRPr sz="1620" b="0">
                <a:solidFill>
                  <a:srgbClr val="F8F9FB"/>
                </a:solidFill>
                <a:latin typeface="Aptos"/>
              </a:defRPr>
            </a:pPr>
            <a:r>
              <a:t>Mmako, L. (2026) Next Level Gaming &amp; Esports Arena: Task 1, Phases 1–3. Unpublished student project reports.</a:t>
            </a:r>
          </a:p>
        </p:txBody>
      </p:sp>
      <p:sp>
        <p:nvSpPr>
          <p:cNvPr id="11" name="TextBox 10"/>
          <p:cNvSpPr txBox="1"/>
          <p:nvPr/>
        </p:nvSpPr>
        <p:spPr>
          <a:xfrm>
            <a:off x="777240" y="5294376"/>
            <a:ext cx="10625328" cy="585216"/>
          </a:xfrm>
          <a:prstGeom prst="rect">
            <a:avLst/>
          </a:prstGeom>
          <a:noFill/>
        </p:spPr>
        <p:txBody>
          <a:bodyPr wrap="square" lIns="18288" tIns="18288" rIns="36576" bIns="18288">
            <a:spAutoFit/>
          </a:bodyPr>
          <a:lstStyle/>
          <a:p>
            <a:pPr>
              <a:defRPr sz="1620" b="0">
                <a:solidFill>
                  <a:srgbClr val="F8F9FB"/>
                </a:solidFill>
                <a:latin typeface="Aptos"/>
              </a:defRPr>
            </a:pPr>
            <a:r>
              <a:t>Norman, D.A. (2013) The design of everyday things: Revised and expanded edition. New York: Basic Books.</a:t>
            </a:r>
          </a:p>
        </p:txBody>
      </p:sp>
      <p:sp>
        <p:nvSpPr>
          <p:cNvPr id="12" name="TextBox 11"/>
          <p:cNvSpPr txBox="1"/>
          <p:nvPr/>
        </p:nvSpPr>
        <p:spPr>
          <a:xfrm>
            <a:off x="777240" y="6126480"/>
            <a:ext cx="10607040" cy="274320"/>
          </a:xfrm>
          <a:prstGeom prst="rect">
            <a:avLst/>
          </a:prstGeom>
          <a:noFill/>
        </p:spPr>
        <p:txBody>
          <a:bodyPr wrap="square" lIns="18288" tIns="18288" rIns="36576" bIns="18288">
            <a:spAutoFit/>
          </a:bodyPr>
          <a:lstStyle/>
          <a:p>
            <a:pPr>
              <a:defRPr sz="1100" b="0">
                <a:solidFill>
                  <a:srgbClr val="C7CCD6"/>
                </a:solidFill>
                <a:latin typeface="Aptos"/>
              </a:defRPr>
            </a:pPr>
            <a:r>
              <a:t>Sources: submitted Task 1 and Task 2 project reports and the tools cited in those reports.</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111218"/>
        </a:solidFill>
        <a:effectLst/>
      </p:bgPr>
    </p:bg>
    <p:spTree>
      <p:nvGrpSpPr>
        <p:cNvPr id="1" name=""/>
        <p:cNvGrpSpPr/>
        <p:nvPr/>
      </p:nvGrpSpPr>
      <p:grpSpPr>
        <a:xfrm>
          <a:off x="0" y="0"/>
          <a:ext cx="0" cy="0"/>
          <a:chOff x="0" y="0"/>
          <a:chExt cx="0" cy="0"/>
        </a:xfrm>
      </p:grpSpPr>
      <p:sp>
        <p:nvSpPr>
          <p:cNvPr id="2" name="TextBox 1"/>
          <p:cNvSpPr txBox="1"/>
          <p:nvPr/>
        </p:nvSpPr>
        <p:spPr>
          <a:xfrm>
            <a:off x="594360" y="228600"/>
            <a:ext cx="10058400" cy="320040"/>
          </a:xfrm>
          <a:prstGeom prst="rect">
            <a:avLst/>
          </a:prstGeom>
          <a:noFill/>
        </p:spPr>
        <p:txBody>
          <a:bodyPr wrap="square">
            <a:spAutoFit/>
          </a:bodyPr>
          <a:lstStyle/>
          <a:p>
            <a:pPr>
              <a:defRPr sz="1100" b="1">
                <a:solidFill>
                  <a:srgbClr val="AA4CFF"/>
                </a:solidFill>
                <a:latin typeface="Aptos"/>
              </a:defRPr>
            </a:pPr>
            <a:r>
              <a:t>NEXT LEVEL • WIL PRESENTATION</a:t>
            </a:r>
          </a:p>
        </p:txBody>
      </p:sp>
      <p:sp>
        <p:nvSpPr>
          <p:cNvPr id="3" name="TextBox 2"/>
          <p:cNvSpPr txBox="1"/>
          <p:nvPr/>
        </p:nvSpPr>
        <p:spPr>
          <a:xfrm>
            <a:off x="594360" y="685800"/>
            <a:ext cx="10972800" cy="658368"/>
          </a:xfrm>
          <a:prstGeom prst="rect">
            <a:avLst/>
          </a:prstGeom>
          <a:noFill/>
        </p:spPr>
        <p:txBody>
          <a:bodyPr wrap="square">
            <a:spAutoFit/>
          </a:bodyPr>
          <a:lstStyle/>
          <a:p>
            <a:pPr>
              <a:defRPr sz="3000" b="1">
                <a:solidFill>
                  <a:srgbClr val="F5F7FB"/>
                </a:solidFill>
                <a:latin typeface="Aptos"/>
              </a:defRPr>
            </a:pPr>
            <a:r>
              <a:t>Thank you — questions?</a:t>
            </a:r>
          </a:p>
        </p:txBody>
      </p:sp>
      <p:sp>
        <p:nvSpPr>
          <p:cNvPr id="4" name="Rectangle 3"/>
          <p:cNvSpPr/>
          <p:nvPr/>
        </p:nvSpPr>
        <p:spPr>
          <a:xfrm>
            <a:off x="640080" y="1389888"/>
            <a:ext cx="1005840" cy="41148"/>
          </a:xfrm>
          <a:prstGeom prst="rect">
            <a:avLst/>
          </a:prstGeom>
          <a:solidFill>
            <a:srgbClr val="00F5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 name="TextBox 4"/>
          <p:cNvSpPr txBox="1"/>
          <p:nvPr/>
        </p:nvSpPr>
        <p:spPr>
          <a:xfrm>
            <a:off x="11109960" y="6446520"/>
            <a:ext cx="548640" cy="228600"/>
          </a:xfrm>
          <a:prstGeom prst="rect">
            <a:avLst/>
          </a:prstGeom>
          <a:noFill/>
        </p:spPr>
        <p:txBody>
          <a:bodyPr wrap="square">
            <a:spAutoFit/>
          </a:bodyPr>
          <a:lstStyle/>
          <a:p>
            <a:pPr>
              <a:defRPr sz="1000" b="0">
                <a:solidFill>
                  <a:srgbClr val="B7C0CC"/>
                </a:solidFill>
                <a:latin typeface="Aptos"/>
              </a:defRPr>
            </a:pPr>
            <a:r>
              <a:t>16</a:t>
            </a:r>
          </a:p>
        </p:txBody>
      </p:sp>
      <p:sp>
        <p:nvSpPr>
          <p:cNvPr id="6" name="TextBox 5"/>
          <p:cNvSpPr txBox="1"/>
          <p:nvPr/>
        </p:nvSpPr>
        <p:spPr>
          <a:xfrm>
            <a:off x="1097280" y="2468880"/>
            <a:ext cx="10058400" cy="640080"/>
          </a:xfrm>
          <a:prstGeom prst="rect">
            <a:avLst/>
          </a:prstGeom>
          <a:noFill/>
        </p:spPr>
        <p:txBody>
          <a:bodyPr wrap="square">
            <a:spAutoFit/>
          </a:bodyPr>
          <a:lstStyle/>
          <a:p>
            <a:pPr>
              <a:defRPr sz="2900" b="1">
                <a:solidFill>
                  <a:srgbClr val="00F5F5"/>
                </a:solidFill>
                <a:latin typeface="Aptos"/>
              </a:defRPr>
            </a:pPr>
            <a:r>
              <a:t>NEXT LEVEL GAMING &amp; ESPORTS ARENA</a:t>
            </a:r>
          </a:p>
        </p:txBody>
      </p:sp>
      <p:sp>
        <p:nvSpPr>
          <p:cNvPr id="7" name="TextBox 6"/>
          <p:cNvSpPr txBox="1"/>
          <p:nvPr/>
        </p:nvSpPr>
        <p:spPr>
          <a:xfrm>
            <a:off x="1097280" y="3657600"/>
            <a:ext cx="10058400" cy="457200"/>
          </a:xfrm>
          <a:prstGeom prst="rect">
            <a:avLst/>
          </a:prstGeom>
          <a:noFill/>
        </p:spPr>
        <p:txBody>
          <a:bodyPr wrap="square">
            <a:spAutoFit/>
          </a:bodyPr>
          <a:lstStyle/>
          <a:p>
            <a:pPr>
              <a:defRPr sz="1800" b="0">
                <a:solidFill>
                  <a:srgbClr val="B7C0CC"/>
                </a:solidFill>
                <a:latin typeface="Aptos"/>
              </a:defRPr>
            </a:pPr>
            <a:r>
              <a:t>Project materials: Task 1 Phases 1–3 and XHAW Task 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5</TotalTime>
  <Words>1507</Words>
  <Application>Microsoft Office PowerPoint</Application>
  <PresentationFormat>Custom</PresentationFormat>
  <Paragraphs>133</Paragraphs>
  <Slides>16</Slides>
  <Notes>16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16</vt:i4>
      </vt:variant>
    </vt:vector>
  </HeadingPairs>
  <TitlesOfParts>
    <vt:vector size="20" baseType="lpstr">
      <vt:lpstr>Aptos</vt: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Lethabo Mmako</cp:lastModifiedBy>
  <cp:revision>2</cp:revision>
  <dcterms:created xsi:type="dcterms:W3CDTF">2013-01-27T09:14:16Z</dcterms:created>
  <dcterms:modified xsi:type="dcterms:W3CDTF">2026-10-27T10:39:46Z</dcterms:modified>
  <cp:category/>
</cp:coreProperties>
</file>